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8.png"/><Relationship Id="rId10" Type="http://schemas.openxmlformats.org/officeDocument/2006/relationships/image" Target="../media/image-2-8.png"/><Relationship Id="rId11" Type="http://schemas.openxmlformats.org/officeDocument/2006/relationships/image" Target="../media/image-2-8.png"/><Relationship Id="rId12" Type="http://schemas.openxmlformats.org/officeDocument/2006/relationships/image" Target="../media/image-2-8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2.png"/><Relationship Id="rId10" Type="http://schemas.openxmlformats.org/officeDocument/2006/relationships/image" Target="../media/image-6-10.png"/><Relationship Id="rId11" Type="http://schemas.openxmlformats.org/officeDocument/2006/relationships/image" Target="../media/image-6-2.png"/><Relationship Id="rId12" Type="http://schemas.openxmlformats.org/officeDocument/2006/relationships/image" Target="../media/image-6-12.png"/><Relationship Id="rId13" Type="http://schemas.openxmlformats.org/officeDocument/2006/relationships/image" Target="../media/image-6-2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6.png"/><Relationship Id="rId7" Type="http://schemas.openxmlformats.org/officeDocument/2006/relationships/image" Target="../media/image-9-6.png"/><Relationship Id="rId8" Type="http://schemas.openxmlformats.org/officeDocument/2006/relationships/image" Target="../media/image-9-6.png"/><Relationship Id="rId9" Type="http://schemas.openxmlformats.org/officeDocument/2006/relationships/image" Target="../media/image-9-6.png"/><Relationship Id="rId10" Type="http://schemas.openxmlformats.org/officeDocument/2006/relationships/image" Target="../media/image-9-6.png"/><Relationship Id="rId11" Type="http://schemas.openxmlformats.org/officeDocument/2006/relationships/image" Target="../media/image-9-6.png"/><Relationship Id="rId12" Type="http://schemas.openxmlformats.org/officeDocument/2006/relationships/image" Target="../media/image-9-6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3474720"/>
            <a:ext cx="3840480" cy="384048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828800" y="4389120"/>
            <a:ext cx="4206240" cy="420624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4892040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4892040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78408" y="4892040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4892040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63624" y="4892040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709928" y="4892040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6232" y="4892040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5038344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78408" y="5038344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63624" y="5038344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856232" y="5038344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5184648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" y="5184648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8408" y="5184648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71016" y="5184648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63624" y="5184648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09928" y="5184648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6232" y="5184648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71016" y="5330952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5477256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78408" y="5477256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24712" y="5477256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417320" y="5477256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563624" y="5477256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856232" y="5477256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271016" y="5623560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5769864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32104" y="5769864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78408" y="5769864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271016" y="5769864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63624" y="5769864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709928" y="5769864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856232" y="5769864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" y="5916168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8408" y="5916168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563624" y="5916168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856232" y="5916168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5800" y="6062472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32104" y="6062472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78408" y="6062472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271016" y="6062472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563624" y="6062472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709928" y="6062472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856232" y="6062472"/>
            <a:ext cx="125821" cy="125821"/>
          </a:xfrm>
          <a:prstGeom prst="rect">
            <a:avLst/>
          </a:prstGeom>
          <a:solidFill>
            <a:srgbClr val="3FBFB0">
              <a:alpha val="4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PRESENTATION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7724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ATTENDEASE</a:t>
            </a:r>
            <a:endParaRPr lang="en-US" sz="6000" dirty="0"/>
          </a:p>
        </p:txBody>
      </p:sp>
      <p:sp>
        <p:nvSpPr>
          <p:cNvPr id="52" name="Text 50"/>
          <p:cNvSpPr/>
          <p:nvPr/>
        </p:nvSpPr>
        <p:spPr>
          <a:xfrm>
            <a:off x="822960" y="2880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QR-Based Attendance Management System with Geofencing &amp; Real-Time Analytics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822960" y="3886200"/>
            <a:ext cx="566928" cy="566928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54" name="Image 0" descr="/home/claude/attendease/icons/qrcode_3FBFB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027932"/>
            <a:ext cx="283464" cy="283464"/>
          </a:xfrm>
          <a:prstGeom prst="rect">
            <a:avLst/>
          </a:prstGeom>
        </p:spPr>
      </p:pic>
      <p:sp>
        <p:nvSpPr>
          <p:cNvPr id="55" name="Shape 52"/>
          <p:cNvSpPr/>
          <p:nvPr/>
        </p:nvSpPr>
        <p:spPr>
          <a:xfrm>
            <a:off x="1572768" y="3886200"/>
            <a:ext cx="566928" cy="566928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56" name="Image 1" descr="/home/claude/attendease/icons/location_dot_3FBFB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4027932"/>
            <a:ext cx="283464" cy="283464"/>
          </a:xfrm>
          <a:prstGeom prst="rect">
            <a:avLst/>
          </a:prstGeom>
        </p:spPr>
      </p:pic>
      <p:sp>
        <p:nvSpPr>
          <p:cNvPr id="57" name="Shape 53"/>
          <p:cNvSpPr/>
          <p:nvPr/>
        </p:nvSpPr>
        <p:spPr>
          <a:xfrm>
            <a:off x="2322576" y="3886200"/>
            <a:ext cx="566928" cy="566928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58" name="Image 2" descr="/home/claude/attendease/icons/shield_3FBFB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308" y="4027932"/>
            <a:ext cx="283464" cy="283464"/>
          </a:xfrm>
          <a:prstGeom prst="rect">
            <a:avLst/>
          </a:prstGeom>
        </p:spPr>
      </p:pic>
      <p:sp>
        <p:nvSpPr>
          <p:cNvPr id="59" name="Shape 54"/>
          <p:cNvSpPr/>
          <p:nvPr/>
        </p:nvSpPr>
        <p:spPr>
          <a:xfrm>
            <a:off x="822960" y="4709160"/>
            <a:ext cx="5212080" cy="1691640"/>
          </a:xfrm>
          <a:prstGeom prst="roundRect">
            <a:avLst>
              <a:gd name="adj" fmla="val 486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105156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61" name="Text 56"/>
          <p:cNvSpPr/>
          <p:nvPr/>
        </p:nvSpPr>
        <p:spPr>
          <a:xfrm>
            <a:off x="1051560" y="5102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Pradeep Yadav</a:t>
            </a:r>
            <a:endParaRPr lang="en-US" sz="1900" dirty="0"/>
          </a:p>
        </p:txBody>
      </p:sp>
      <p:sp>
        <p:nvSpPr>
          <p:cNvPr id="62" name="Text 57"/>
          <p:cNvSpPr/>
          <p:nvPr/>
        </p:nvSpPr>
        <p:spPr>
          <a:xfrm>
            <a:off x="1051560" y="5532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CS-2341196    |    Section: 4CSE13</a:t>
            </a:r>
            <a:endParaRPr lang="en-US" sz="1250" dirty="0"/>
          </a:p>
        </p:txBody>
      </p:sp>
      <p:sp>
        <p:nvSpPr>
          <p:cNvPr id="63" name="Text 58"/>
          <p:cNvSpPr/>
          <p:nvPr/>
        </p:nvSpPr>
        <p:spPr>
          <a:xfrm>
            <a:off x="1051560" y="5852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150" dirty="0"/>
          </a:p>
        </p:txBody>
      </p:sp>
      <p:sp>
        <p:nvSpPr>
          <p:cNvPr id="64" name="Shape 59"/>
          <p:cNvSpPr/>
          <p:nvPr/>
        </p:nvSpPr>
        <p:spPr>
          <a:xfrm>
            <a:off x="6309360" y="4709160"/>
            <a:ext cx="5029200" cy="1691640"/>
          </a:xfrm>
          <a:prstGeom prst="roundRect">
            <a:avLst>
              <a:gd name="adj" fmla="val 486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653796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ORGANISATION</a:t>
            </a:r>
            <a:endParaRPr lang="en-US" sz="950" dirty="0"/>
          </a:p>
        </p:txBody>
      </p:sp>
      <p:sp>
        <p:nvSpPr>
          <p:cNvPr id="66" name="Text 61"/>
          <p:cNvSpPr/>
          <p:nvPr/>
        </p:nvSpPr>
        <p:spPr>
          <a:xfrm>
            <a:off x="6537960" y="5111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DigiSamaksh Pvt. Ltd.  (3 Months)</a:t>
            </a:r>
            <a:endParaRPr lang="en-US" sz="1300" dirty="0"/>
          </a:p>
        </p:txBody>
      </p:sp>
      <p:sp>
        <p:nvSpPr>
          <p:cNvPr id="67" name="Text 62"/>
          <p:cNvSpPr/>
          <p:nvPr/>
        </p:nvSpPr>
        <p:spPr>
          <a:xfrm>
            <a:off x="6537960" y="5394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</a:t>
            </a:r>
            <a:endParaRPr lang="en-US" sz="950" dirty="0"/>
          </a:p>
        </p:txBody>
      </p:sp>
      <p:sp>
        <p:nvSpPr>
          <p:cNvPr id="68" name="Text 63"/>
          <p:cNvSpPr/>
          <p:nvPr/>
        </p:nvSpPr>
        <p:spPr>
          <a:xfrm>
            <a:off x="6537960" y="5614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Surabhi Purwar</a:t>
            </a:r>
            <a:endParaRPr lang="en-US" sz="1300" dirty="0"/>
          </a:p>
        </p:txBody>
      </p:sp>
      <p:sp>
        <p:nvSpPr>
          <p:cNvPr id="69" name="Text 64"/>
          <p:cNvSpPr/>
          <p:nvPr/>
        </p:nvSpPr>
        <p:spPr>
          <a:xfrm>
            <a:off x="6537960" y="5897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</a:t>
            </a:r>
            <a:endParaRPr lang="en-US" sz="950" dirty="0"/>
          </a:p>
        </p:txBody>
      </p:sp>
      <p:sp>
        <p:nvSpPr>
          <p:cNvPr id="70" name="Text 65"/>
          <p:cNvSpPr/>
          <p:nvPr/>
        </p:nvSpPr>
        <p:spPr>
          <a:xfrm>
            <a:off x="6537960" y="61173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Raushan</a:t>
            </a:r>
            <a:endParaRPr lang="en-US" sz="1300" dirty="0"/>
          </a:p>
        </p:txBody>
      </p:sp>
      <p:sp>
        <p:nvSpPr>
          <p:cNvPr id="71" name="Text 66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ATTENDEASE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conventional attendance methods fall short — and what Attendease changes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5400000">
              <a:srgbClr val="1C233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55648"/>
            <a:ext cx="502920" cy="502920"/>
          </a:xfrm>
          <a:prstGeom prst="ellipse">
            <a:avLst/>
          </a:prstGeom>
          <a:solidFill>
            <a:srgbClr val="FBE7E5"/>
          </a:solidFill>
          <a:ln/>
        </p:spPr>
      </p:sp>
      <p:pic>
        <p:nvPicPr>
          <p:cNvPr id="6" name="Image 0" descr="/home/claude/attendease/icons/clock_C03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1868805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739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Attendance</a:t>
            </a:r>
            <a:endParaRPr lang="en-US" sz="1700" dirty="0"/>
          </a:p>
        </p:txBody>
      </p:sp>
      <p:pic>
        <p:nvPicPr>
          <p:cNvPr id="8" name="Image 1" descr="/home/claude/attendease/icons/cross_C039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45059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7008" y="24231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for large classes</a:t>
            </a:r>
            <a:endParaRPr lang="en-US" sz="1250" dirty="0"/>
          </a:p>
        </p:txBody>
      </p:sp>
      <p:pic>
        <p:nvPicPr>
          <p:cNvPr id="10" name="Image 2" descr="/home/claude/attendease/icons/cross_C039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889504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28620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paper-based process</a:t>
            </a:r>
            <a:endParaRPr lang="en-US" sz="1250" dirty="0"/>
          </a:p>
        </p:txBody>
      </p:sp>
      <p:pic>
        <p:nvPicPr>
          <p:cNvPr id="12" name="Image 3" descr="/home/claude/attendease/icons/cross_C0392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32841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3009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human error</a:t>
            </a:r>
            <a:endParaRPr lang="en-US" sz="1250" dirty="0"/>
          </a:p>
        </p:txBody>
      </p:sp>
      <p:pic>
        <p:nvPicPr>
          <p:cNvPr id="14" name="Image 4" descr="/home/claude/attendease/icons/cross_C0392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767328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07008" y="37398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QR codes reused via screenshots</a:t>
            </a:r>
            <a:endParaRPr lang="en-US" sz="1250" dirty="0"/>
          </a:p>
        </p:txBody>
      </p:sp>
      <p:pic>
        <p:nvPicPr>
          <p:cNvPr id="16" name="Image 5" descr="/home/claude/attendease/icons/cross_C0392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206240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07008" y="41788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location verification — enables proxy attendance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6355080" y="14630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1C2331">
                <a:alpha val="18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6675120" y="1755648"/>
            <a:ext cx="502920" cy="502920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20" name="Image 6" descr="/home/claude/attendease/icons/shield_3FBFB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8277" y="1868805"/>
            <a:ext cx="276606" cy="27660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315200" y="17739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Attendease Solution</a:t>
            </a:r>
            <a:endParaRPr lang="en-US" sz="1700" dirty="0"/>
          </a:p>
        </p:txBody>
      </p:sp>
      <p:pic>
        <p:nvPicPr>
          <p:cNvPr id="22" name="Image 7" descr="/home/claude/attendease/icons/check_3FBFB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2552" y="2450592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013448" y="24231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QR Codes refresh every session</a:t>
            </a:r>
            <a:endParaRPr lang="en-US" sz="1250" dirty="0"/>
          </a:p>
        </p:txBody>
      </p:sp>
      <p:pic>
        <p:nvPicPr>
          <p:cNvPr id="24" name="Image 8" descr="/home/claude/attendease/icons/check_3FBFB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2552" y="2889504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013448" y="28620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geofencing verifies real presence</a:t>
            </a:r>
            <a:endParaRPr lang="en-US" sz="1250" dirty="0"/>
          </a:p>
        </p:txBody>
      </p:sp>
      <p:pic>
        <p:nvPicPr>
          <p:cNvPr id="26" name="Image 9" descr="/home/claude/attendease/icons/check_3FBFB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2552" y="3328416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013448" y="33009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&amp; proxy attendance</a:t>
            </a:r>
            <a:endParaRPr lang="en-US" sz="1250" dirty="0"/>
          </a:p>
        </p:txBody>
      </p:sp>
      <p:pic>
        <p:nvPicPr>
          <p:cNvPr id="28" name="Image 10" descr="/home/claude/attendease/icons/check_3FBFB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2552" y="3767328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013448" y="37398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automated attendance records</a:t>
            </a:r>
            <a:endParaRPr lang="en-US" sz="1250" dirty="0"/>
          </a:p>
        </p:txBody>
      </p:sp>
      <p:pic>
        <p:nvPicPr>
          <p:cNvPr id="30" name="Image 11" descr="/home/claude/attendease/icons/check_3FBFB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2552" y="4206240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013448" y="41788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role-based digital workflow</a:t>
            </a:r>
            <a:endParaRPr lang="en-US" sz="1250" dirty="0"/>
          </a:p>
        </p:txBody>
      </p:sp>
      <p:sp>
        <p:nvSpPr>
          <p:cNvPr id="32" name="Shape 18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AF4F4"/>
          </a:solidFill>
          <a:ln w="12700">
            <a:solidFill>
              <a:srgbClr val="CDE6E6"/>
            </a:solidFill>
            <a:prstDash val="solid"/>
          </a:ln>
        </p:spPr>
      </p:sp>
      <p:sp>
        <p:nvSpPr>
          <p:cNvPr id="33" name="Shape 19"/>
          <p:cNvSpPr/>
          <p:nvPr/>
        </p:nvSpPr>
        <p:spPr>
          <a:xfrm>
            <a:off x="777240" y="51206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12" descr="/home/claude/attendease/icons/target_FFFFFF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119" y="5295519"/>
            <a:ext cx="427482" cy="427482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1783080" y="50292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efficient attendance system is needed to reduce manual effort, prevent duplicate and proxy attendance, verify student presence, and provide real-time records.</a:t>
            </a:r>
            <a:endParaRPr lang="en-US" sz="1300" dirty="0"/>
          </a:p>
        </p:txBody>
      </p:sp>
      <p:sp>
        <p:nvSpPr>
          <p:cNvPr id="36" name="Text 21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ATTENDEASE</a:t>
            </a:r>
            <a:endParaRPr lang="en-US" sz="900" dirty="0"/>
          </a:p>
        </p:txBody>
      </p:sp>
      <p:sp>
        <p:nvSpPr>
          <p:cNvPr id="37" name="Text 2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goals guiding the design and development of Attendease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17392" cy="1076706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72209"/>
            <a:ext cx="566928" cy="566928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6" name="Image 0" descr="/home/claude/attendease/icons/laptop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367" y="1799768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72184"/>
            <a:ext cx="2420112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digital attendance management system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2064" y="1417320"/>
            <a:ext cx="3517392" cy="1076706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3232" y="1672209"/>
            <a:ext cx="566928" cy="566928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10" name="Image 1" descr="/home/claude/attendease/icons/clock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791" y="1799768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6464" y="1472184"/>
            <a:ext cx="2420112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classroom attendance time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095488" y="1417320"/>
            <a:ext cx="3517392" cy="1076706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96656" y="1672209"/>
            <a:ext cx="566928" cy="566928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14" name="Image 2" descr="/home/claude/attendease/icons/shield_065A8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215" y="1799768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09888" y="1472184"/>
            <a:ext cx="2420112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proxy attendance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2750058"/>
            <a:ext cx="3517392" cy="1076706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004947"/>
            <a:ext cx="566928" cy="566928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18" name="Image 3" descr="/home/claude/attendease/icons/qrcode_1C72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367" y="3132506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2804922"/>
            <a:ext cx="2420112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Dynamic QR Code validation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22064" y="2750058"/>
            <a:ext cx="3517392" cy="1076706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23232" y="3004947"/>
            <a:ext cx="566928" cy="566928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22" name="Image 4" descr="/home/claude/attendease/icons/location_dot_065A8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0791" y="3132506"/>
            <a:ext cx="311810" cy="31181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36464" y="2804922"/>
            <a:ext cx="2420112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student location via GPS Geofencing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095488" y="2750058"/>
            <a:ext cx="3517392" cy="1076706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296656" y="3004947"/>
            <a:ext cx="566928" cy="566928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26" name="Image 5" descr="/home/claude/attendease/icons/key_1C729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4215" y="3132506"/>
            <a:ext cx="311810" cy="31181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09888" y="2804922"/>
            <a:ext cx="2420112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secure authentication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48640" y="4082796"/>
            <a:ext cx="3517392" cy="1076706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49808" y="4337685"/>
            <a:ext cx="566928" cy="566928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30" name="Image 6" descr="/home/claude/attendease/icons/users_065A8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367" y="4465244"/>
            <a:ext cx="311810" cy="31181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63040" y="4137660"/>
            <a:ext cx="2420112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Role-Based Access Control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4322064" y="4082796"/>
            <a:ext cx="3517392" cy="1076706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523232" y="4337685"/>
            <a:ext cx="566928" cy="566928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34" name="Image 7" descr="/home/claude/attendease/icons/bolt_1C729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0791" y="4465244"/>
            <a:ext cx="311810" cy="31181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36464" y="4137660"/>
            <a:ext cx="2420112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attendance monitoring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8095488" y="4082796"/>
            <a:ext cx="3517392" cy="1076706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296656" y="4337685"/>
            <a:ext cx="566928" cy="566928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38" name="Image 8" descr="/home/claude/attendease/icons/chart_065A8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4215" y="4465244"/>
            <a:ext cx="311810" cy="31181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009888" y="4137660"/>
            <a:ext cx="2420112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attendance analytics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548640" y="5415534"/>
            <a:ext cx="3517392" cy="1076706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749808" y="5670423"/>
            <a:ext cx="566928" cy="566928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42" name="Image 9" descr="/home/claude/attendease/icons/excel_1C729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367" y="5797982"/>
            <a:ext cx="311810" cy="31181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463040" y="5470398"/>
            <a:ext cx="2420112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automated Excel reports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4322064" y="5415534"/>
            <a:ext cx="3517392" cy="1076706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4523232" y="5670423"/>
            <a:ext cx="566928" cy="566928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46" name="Image 10" descr="/home/claude/attendease/icons/sync_065A8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0791" y="5797982"/>
            <a:ext cx="311810" cy="31181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236464" y="5470398"/>
            <a:ext cx="2420112" cy="966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 attendance records</a:t>
            </a:r>
            <a:endParaRPr lang="en-US" sz="1200" dirty="0"/>
          </a:p>
        </p:txBody>
      </p:sp>
      <p:sp>
        <p:nvSpPr>
          <p:cNvPr id="48" name="Text 35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ATTENDEASE</a:t>
            </a:r>
            <a:endParaRPr lang="en-US" sz="900" dirty="0"/>
          </a:p>
        </p:txBody>
      </p:sp>
      <p:sp>
        <p:nvSpPr>
          <p:cNvPr id="49" name="Text 3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20240" y="1417320"/>
            <a:ext cx="832104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C233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167335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attendease/icons/laptop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119" y="180091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71800" y="1581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971800" y="2039112"/>
            <a:ext cx="18288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46320" y="2039112"/>
            <a:ext cx="18288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20840" y="2039112"/>
            <a:ext cx="18288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95360" y="2039112"/>
            <a:ext cx="18288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Location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80760" y="2651760"/>
            <a:ext cx="0" cy="41148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6217920" y="27294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 WebSocket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920240" y="3063240"/>
            <a:ext cx="8321040" cy="1783080"/>
          </a:xfrm>
          <a:prstGeom prst="roundRect">
            <a:avLst>
              <a:gd name="adj" fmla="val 410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C2331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194560" y="33192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/home/claude/attendease/icons/server_2129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119" y="3446831"/>
            <a:ext cx="311810" cy="3118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71800" y="3227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971800" y="3685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+ Express.js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97180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Authentication · JWT · RBAC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971800" y="4270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Validation · GPS Validation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629400" y="3685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Attendance Management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62940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Socket.io (real-time)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080760" y="4846320"/>
            <a:ext cx="0" cy="41148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6217920" y="49240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1920240" y="5257800"/>
            <a:ext cx="832104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C2331">
                <a:alpha val="1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194560" y="55138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2" descr="/home/claude/attendease/icons/database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119" y="5641391"/>
            <a:ext cx="311810" cy="31181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971800" y="5422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2971800" y="5806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ATTENDEASE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full-stack toolkit powering Attendease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35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ttendease/icons/lapt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7590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73352"/>
            <a:ext cx="252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2404872"/>
            <a:ext cx="82296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331720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734056"/>
            <a:ext cx="82296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660904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063240"/>
            <a:ext cx="82296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990088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12920" y="1417320"/>
            <a:ext cx="3535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41520" y="16459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1" descr="/home/claude/attendease/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677" y="1759077"/>
            <a:ext cx="276606" cy="2766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81600" y="1673352"/>
            <a:ext cx="252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587240" y="2404872"/>
            <a:ext cx="82296" cy="8229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5"/>
          <p:cNvSpPr/>
          <p:nvPr/>
        </p:nvSpPr>
        <p:spPr>
          <a:xfrm>
            <a:off x="4770120" y="2331720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587240" y="2734056"/>
            <a:ext cx="82296" cy="8229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7"/>
          <p:cNvSpPr/>
          <p:nvPr/>
        </p:nvSpPr>
        <p:spPr>
          <a:xfrm>
            <a:off x="4770120" y="2660904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077200" y="1417320"/>
            <a:ext cx="3535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30580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/home/claude/attendease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957" y="1759077"/>
            <a:ext cx="276606" cy="27660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45880" y="1673352"/>
            <a:ext cx="252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8351520" y="2404872"/>
            <a:ext cx="82296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2"/>
          <p:cNvSpPr/>
          <p:nvPr/>
        </p:nvSpPr>
        <p:spPr>
          <a:xfrm>
            <a:off x="8534400" y="2331720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351520" y="2734056"/>
            <a:ext cx="82296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4"/>
          <p:cNvSpPr/>
          <p:nvPr/>
        </p:nvSpPr>
        <p:spPr>
          <a:xfrm>
            <a:off x="8534400" y="2660904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548640" y="3657600"/>
            <a:ext cx="54178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2" name="Image 3" descr="/home/claude/attendease/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3999357"/>
            <a:ext cx="276606" cy="27660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17320" y="3913632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Other Tools</a:t>
            </a:r>
            <a:endParaRPr lang="en-US" sz="1450" dirty="0"/>
          </a:p>
        </p:txBody>
      </p:sp>
      <p:sp>
        <p:nvSpPr>
          <p:cNvPr id="34" name="Shape 28"/>
          <p:cNvSpPr/>
          <p:nvPr/>
        </p:nvSpPr>
        <p:spPr>
          <a:xfrm>
            <a:off x="822960" y="4645152"/>
            <a:ext cx="82296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29"/>
          <p:cNvSpPr/>
          <p:nvPr/>
        </p:nvSpPr>
        <p:spPr>
          <a:xfrm>
            <a:off x="1005840" y="457200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822960" y="4974336"/>
            <a:ext cx="82296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1"/>
          <p:cNvSpPr/>
          <p:nvPr/>
        </p:nvSpPr>
        <p:spPr>
          <a:xfrm>
            <a:off x="1005840" y="4901184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822960" y="5303520"/>
            <a:ext cx="82296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3"/>
          <p:cNvSpPr/>
          <p:nvPr/>
        </p:nvSpPr>
        <p:spPr>
          <a:xfrm>
            <a:off x="1005840" y="5230368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822960" y="5632704"/>
            <a:ext cx="82296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5"/>
          <p:cNvSpPr/>
          <p:nvPr/>
        </p:nvSpPr>
        <p:spPr>
          <a:xfrm>
            <a:off x="1005840" y="5559552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QR Scanner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822960" y="5961888"/>
            <a:ext cx="82296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3" name="Text 37"/>
          <p:cNvSpPr/>
          <p:nvPr/>
        </p:nvSpPr>
        <p:spPr>
          <a:xfrm>
            <a:off x="1005840" y="5888736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ExcelJS</a:t>
            </a:r>
            <a:endParaRPr lang="en-US" sz="1250" dirty="0"/>
          </a:p>
        </p:txBody>
      </p:sp>
      <p:sp>
        <p:nvSpPr>
          <p:cNvPr id="44" name="Shape 38"/>
          <p:cNvSpPr/>
          <p:nvPr/>
        </p:nvSpPr>
        <p:spPr>
          <a:xfrm>
            <a:off x="6195060" y="3657600"/>
            <a:ext cx="54178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6423660" y="3886200"/>
            <a:ext cx="502920" cy="50292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46" name="Image 4" descr="/home/claude/attendease/icons/cod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817" y="3999357"/>
            <a:ext cx="276606" cy="276606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063740" y="3913632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Tools</a:t>
            </a:r>
            <a:endParaRPr lang="en-US" sz="1450" dirty="0"/>
          </a:p>
        </p:txBody>
      </p:sp>
      <p:sp>
        <p:nvSpPr>
          <p:cNvPr id="48" name="Shape 41"/>
          <p:cNvSpPr/>
          <p:nvPr/>
        </p:nvSpPr>
        <p:spPr>
          <a:xfrm>
            <a:off x="6469380" y="4645152"/>
            <a:ext cx="82296" cy="82296"/>
          </a:xfrm>
          <a:prstGeom prst="rect">
            <a:avLst/>
          </a:prstGeom>
          <a:solidFill>
            <a:srgbClr val="3FBFB0"/>
          </a:solidFill>
          <a:ln/>
        </p:spPr>
      </p:sp>
      <p:sp>
        <p:nvSpPr>
          <p:cNvPr id="49" name="Text 42"/>
          <p:cNvSpPr/>
          <p:nvPr/>
        </p:nvSpPr>
        <p:spPr>
          <a:xfrm>
            <a:off x="6652260" y="4572000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50" dirty="0"/>
          </a:p>
        </p:txBody>
      </p:sp>
      <p:sp>
        <p:nvSpPr>
          <p:cNvPr id="50" name="Shape 43"/>
          <p:cNvSpPr/>
          <p:nvPr/>
        </p:nvSpPr>
        <p:spPr>
          <a:xfrm>
            <a:off x="6469380" y="4974336"/>
            <a:ext cx="82296" cy="82296"/>
          </a:xfrm>
          <a:prstGeom prst="rect">
            <a:avLst/>
          </a:prstGeom>
          <a:solidFill>
            <a:srgbClr val="3FBFB0"/>
          </a:solidFill>
          <a:ln/>
        </p:spPr>
      </p:sp>
      <p:sp>
        <p:nvSpPr>
          <p:cNvPr id="51" name="Text 44"/>
          <p:cNvSpPr/>
          <p:nvPr/>
        </p:nvSpPr>
        <p:spPr>
          <a:xfrm>
            <a:off x="6652260" y="4901184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50" dirty="0"/>
          </a:p>
        </p:txBody>
      </p:sp>
      <p:sp>
        <p:nvSpPr>
          <p:cNvPr id="52" name="Shape 45"/>
          <p:cNvSpPr/>
          <p:nvPr/>
        </p:nvSpPr>
        <p:spPr>
          <a:xfrm>
            <a:off x="6469380" y="5303520"/>
            <a:ext cx="82296" cy="82296"/>
          </a:xfrm>
          <a:prstGeom prst="rect">
            <a:avLst/>
          </a:prstGeom>
          <a:solidFill>
            <a:srgbClr val="3FBFB0"/>
          </a:solidFill>
          <a:ln/>
        </p:spPr>
      </p:sp>
      <p:sp>
        <p:nvSpPr>
          <p:cNvPr id="53" name="Text 46"/>
          <p:cNvSpPr/>
          <p:nvPr/>
        </p:nvSpPr>
        <p:spPr>
          <a:xfrm>
            <a:off x="6652260" y="5230368"/>
            <a:ext cx="4732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54" name="Text 47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ATTENDEASE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Attendease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eight-step flow from session start to real-time confirmation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54889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94610" y="1344168"/>
            <a:ext cx="384048" cy="384048"/>
          </a:xfrm>
          <a:prstGeom prst="ellipse">
            <a:avLst/>
          </a:prstGeom>
          <a:solidFill>
            <a:srgbClr val="3FBF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9461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6469" y="1764792"/>
            <a:ext cx="621792" cy="621792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8" name="Image 0" descr="/home/claude/attendease/icons/teacher_065A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372" y="1904695"/>
            <a:ext cx="341986" cy="3419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51460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starts a live attendance session</a:t>
            </a:r>
            <a:endParaRPr lang="en-US" sz="1150" dirty="0"/>
          </a:p>
        </p:txBody>
      </p:sp>
      <p:pic>
        <p:nvPicPr>
          <p:cNvPr id="10" name="Image 1" descr="/home/claude/attendease/icons/arrow_right_5B647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098" y="244144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71850" y="1508760"/>
            <a:ext cx="254889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63540" y="1344168"/>
            <a:ext cx="384048" cy="384048"/>
          </a:xfrm>
          <a:prstGeom prst="ellipse">
            <a:avLst/>
          </a:prstGeom>
          <a:solidFill>
            <a:srgbClr val="3FBF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6354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35399" y="1764792"/>
            <a:ext cx="621792" cy="621792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15" name="Image 2" descr="/home/claude/attendease/icons/location_dot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02" y="1904695"/>
            <a:ext cx="341986" cy="3419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09010" y="251460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GPS location is captured</a:t>
            </a:r>
            <a:endParaRPr lang="en-US" sz="1150" dirty="0"/>
          </a:p>
        </p:txBody>
      </p:sp>
      <p:pic>
        <p:nvPicPr>
          <p:cNvPr id="17" name="Image 3" descr="/home/claude/attendease/icons/arrow_right_5B647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244144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40780" y="1508760"/>
            <a:ext cx="254889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332470" y="1344168"/>
            <a:ext cx="384048" cy="384048"/>
          </a:xfrm>
          <a:prstGeom prst="ellipse">
            <a:avLst/>
          </a:prstGeom>
          <a:solidFill>
            <a:srgbClr val="3FBF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33247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204329" y="1764792"/>
            <a:ext cx="621792" cy="621792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22" name="Image 4" descr="/home/claude/attendease/icons/qrcode_065A8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232" y="1904695"/>
            <a:ext cx="341986" cy="3419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77940" y="251460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QR Code is generated</a:t>
            </a:r>
            <a:endParaRPr lang="en-US" sz="1150" dirty="0"/>
          </a:p>
        </p:txBody>
      </p:sp>
      <p:pic>
        <p:nvPicPr>
          <p:cNvPr id="24" name="Image 5" descr="/home/claude/attendease/icons/arrow_right_5B647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7958" y="2441448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09710" y="1508760"/>
            <a:ext cx="254889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11201400" y="1344168"/>
            <a:ext cx="384048" cy="384048"/>
          </a:xfrm>
          <a:prstGeom prst="ellipse">
            <a:avLst/>
          </a:prstGeom>
          <a:solidFill>
            <a:srgbClr val="3FBF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1120140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10073259" y="1764792"/>
            <a:ext cx="621792" cy="621792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29" name="Image 6" descr="/home/claude/attendease/icons/scan_1C729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162" y="1904695"/>
            <a:ext cx="341986" cy="34198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246870" y="251460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the active QR Code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502920" y="4297680"/>
            <a:ext cx="254889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2594610" y="4133088"/>
            <a:ext cx="384048" cy="384048"/>
          </a:xfrm>
          <a:prstGeom prst="ellipse">
            <a:avLst/>
          </a:prstGeom>
          <a:solidFill>
            <a:srgbClr val="3FBF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59461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1466469" y="4553712"/>
            <a:ext cx="621792" cy="621792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35" name="Image 7" descr="/home/claude/attendease/icons/gps_065A8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6372" y="4693615"/>
            <a:ext cx="341986" cy="34198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40080" y="530352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GPS location is verified</a:t>
            </a:r>
            <a:endParaRPr lang="en-US" sz="1150" dirty="0"/>
          </a:p>
        </p:txBody>
      </p:sp>
      <p:pic>
        <p:nvPicPr>
          <p:cNvPr id="37" name="Image 8" descr="/home/claude/attendease/icons/arrow_right_5B647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0098" y="5230368"/>
            <a:ext cx="237744" cy="237744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3371850" y="4297680"/>
            <a:ext cx="254889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5463540" y="4133088"/>
            <a:ext cx="384048" cy="384048"/>
          </a:xfrm>
          <a:prstGeom prst="ellipse">
            <a:avLst/>
          </a:prstGeom>
          <a:solidFill>
            <a:srgbClr val="3FBF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46354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Shape 30"/>
          <p:cNvSpPr/>
          <p:nvPr/>
        </p:nvSpPr>
        <p:spPr>
          <a:xfrm>
            <a:off x="4335399" y="4553712"/>
            <a:ext cx="621792" cy="621792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42" name="Image 9" descr="/home/claude/attendease/icons/shield_1C729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5302" y="4693615"/>
            <a:ext cx="341986" cy="34198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509010" y="530352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auth, QR, session, GPS &amp; duplicates</a:t>
            </a:r>
            <a:endParaRPr lang="en-US" sz="1150" dirty="0"/>
          </a:p>
        </p:txBody>
      </p:sp>
      <p:pic>
        <p:nvPicPr>
          <p:cNvPr id="44" name="Image 10" descr="/home/claude/attendease/icons/arrow_right_5B647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9028" y="5230368"/>
            <a:ext cx="237744" cy="237744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6240780" y="4297680"/>
            <a:ext cx="254889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46" name="Shape 33"/>
          <p:cNvSpPr/>
          <p:nvPr/>
        </p:nvSpPr>
        <p:spPr>
          <a:xfrm>
            <a:off x="8332470" y="4133088"/>
            <a:ext cx="384048" cy="384048"/>
          </a:xfrm>
          <a:prstGeom prst="ellipse">
            <a:avLst/>
          </a:prstGeom>
          <a:solidFill>
            <a:srgbClr val="3FBF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833247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8" name="Shape 35"/>
          <p:cNvSpPr/>
          <p:nvPr/>
        </p:nvSpPr>
        <p:spPr>
          <a:xfrm>
            <a:off x="7204329" y="4553712"/>
            <a:ext cx="621792" cy="621792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49" name="Image 11" descr="/home/claude/attendease/icons/database_065A8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4232" y="4693615"/>
            <a:ext cx="341986" cy="341986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6377940" y="530352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recorded in PostgreSQL</a:t>
            </a:r>
            <a:endParaRPr lang="en-US" sz="1150" dirty="0"/>
          </a:p>
        </p:txBody>
      </p:sp>
      <p:pic>
        <p:nvPicPr>
          <p:cNvPr id="51" name="Image 12" descr="/home/claude/attendease/icons/arrow_right_5B647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07958" y="5230368"/>
            <a:ext cx="237744" cy="237744"/>
          </a:xfrm>
          <a:prstGeom prst="rect">
            <a:avLst/>
          </a:prstGeom>
        </p:spPr>
      </p:pic>
      <p:sp>
        <p:nvSpPr>
          <p:cNvPr id="52" name="Shape 37"/>
          <p:cNvSpPr/>
          <p:nvPr/>
        </p:nvSpPr>
        <p:spPr>
          <a:xfrm>
            <a:off x="9109710" y="4297680"/>
            <a:ext cx="254889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53" name="Shape 38"/>
          <p:cNvSpPr/>
          <p:nvPr/>
        </p:nvSpPr>
        <p:spPr>
          <a:xfrm>
            <a:off x="11201400" y="4133088"/>
            <a:ext cx="384048" cy="384048"/>
          </a:xfrm>
          <a:prstGeom prst="ellipse">
            <a:avLst/>
          </a:prstGeom>
          <a:solidFill>
            <a:srgbClr val="3FBF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39"/>
          <p:cNvSpPr/>
          <p:nvPr/>
        </p:nvSpPr>
        <p:spPr>
          <a:xfrm>
            <a:off x="1120140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55" name="Shape 40"/>
          <p:cNvSpPr/>
          <p:nvPr/>
        </p:nvSpPr>
        <p:spPr>
          <a:xfrm>
            <a:off x="10073259" y="4553712"/>
            <a:ext cx="621792" cy="621792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56" name="Image 13" descr="/home/claude/attendease/icons/bolt_1C7293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13162" y="4693615"/>
            <a:ext cx="341986" cy="341986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9246870" y="5303520"/>
            <a:ext cx="22745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 updates in real time via Socket.io</a:t>
            </a:r>
            <a:endParaRPr lang="en-US" sz="1150" dirty="0"/>
          </a:p>
        </p:txBody>
      </p:sp>
      <p:sp>
        <p:nvSpPr>
          <p:cNvPr id="58" name="Text 42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ATTENDEASE</a:t>
            </a:r>
            <a:endParaRPr lang="en-US" sz="900" dirty="0"/>
          </a:p>
        </p:txBody>
      </p:sp>
      <p:sp>
        <p:nvSpPr>
          <p:cNvPr id="59" name="Text 4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Security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QR Codes and GPS Geofencing at the heart of Attendease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C233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09928"/>
            <a:ext cx="566928" cy="566928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6" name="Image 0" descr="/home/claude/attendease/icons/qrcode_3FBFB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807" y="18374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465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QR Code</a:t>
            </a:r>
            <a:endParaRPr lang="en-US" sz="1700" dirty="0"/>
          </a:p>
        </p:txBody>
      </p:sp>
      <p:pic>
        <p:nvPicPr>
          <p:cNvPr id="8" name="Image 1" descr="/home/claude/attendease/icons/check_3FBFB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9631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46888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QR secret generated for every session</a:t>
            </a:r>
            <a:endParaRPr lang="en-US" sz="1250" dirty="0"/>
          </a:p>
        </p:txBody>
      </p:sp>
      <p:pic>
        <p:nvPicPr>
          <p:cNvPr id="10" name="Image 2" descr="/home/claude/attendease/icons/check_3FBFB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08376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298094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secret can be refreshed on demand</a:t>
            </a:r>
            <a:endParaRPr lang="en-US" sz="1250" dirty="0"/>
          </a:p>
        </p:txBody>
      </p:sp>
      <p:pic>
        <p:nvPicPr>
          <p:cNvPr id="12" name="Image 3" descr="/home/claude/attendease/icons/check_3FBFB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2044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0432" y="349300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QR codes become invalid instantly</a:t>
            </a:r>
            <a:endParaRPr lang="en-US" sz="1250" dirty="0"/>
          </a:p>
        </p:txBody>
      </p:sp>
      <p:pic>
        <p:nvPicPr>
          <p:cNvPr id="14" name="Image 4" descr="/home/claude/attendease/icons/check_3FBFB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3250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70432" y="400507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Greatly reduces QR screenshot reuse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6172200" y="141732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C2331">
                <a:alpha val="15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6464808" y="170992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5" descr="/home/claude/attendease/icons/location_dot_1C729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367" y="1837487"/>
            <a:ext cx="311810" cy="31181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78040" y="1746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GPS-Based Geofencing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6537960" y="23774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teacher's and student's live location to confirm physical presence.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6537960" y="2926080"/>
            <a:ext cx="2263140" cy="1417320"/>
          </a:xfrm>
          <a:prstGeom prst="roundRect">
            <a:avLst>
              <a:gd name="adj" fmla="val 45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22" name="Image 6" descr="/home/claude/attendease/icons/che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108960"/>
            <a:ext cx="347472" cy="34747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537960" y="3502152"/>
            <a:ext cx="22631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50 metres</a:t>
            </a:r>
            <a:endParaRPr lang="en-US" sz="1500" dirty="0"/>
          </a:p>
        </p:txBody>
      </p:sp>
      <p:sp>
        <p:nvSpPr>
          <p:cNvPr id="24" name="Text 15"/>
          <p:cNvSpPr/>
          <p:nvPr/>
        </p:nvSpPr>
        <p:spPr>
          <a:xfrm>
            <a:off x="6537960" y="3822192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Accepted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8983980" y="2926080"/>
            <a:ext cx="2263140" cy="1417320"/>
          </a:xfrm>
          <a:prstGeom prst="roundRect">
            <a:avLst>
              <a:gd name="adj" fmla="val 451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26" name="Image 7" descr="/home/claude/attendease/icons/cross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2580" y="3108960"/>
            <a:ext cx="347472" cy="34747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983980" y="3502152"/>
            <a:ext cx="22631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50 metres</a:t>
            </a:r>
            <a:endParaRPr lang="en-US" sz="1500" dirty="0"/>
          </a:p>
        </p:txBody>
      </p:sp>
      <p:sp>
        <p:nvSpPr>
          <p:cNvPr id="28" name="Text 18"/>
          <p:cNvSpPr/>
          <p:nvPr/>
        </p:nvSpPr>
        <p:spPr>
          <a:xfrm>
            <a:off x="8983980" y="3822192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Rejected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77724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SECURITY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868680" y="5285232"/>
            <a:ext cx="457200" cy="457200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32" name="Image 8" descr="/home/claude/attendease/icons/key_065A8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" y="5388102"/>
            <a:ext cx="251460" cy="2514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1463040" y="52852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</p:txBody>
      </p:sp>
      <p:sp>
        <p:nvSpPr>
          <p:cNvPr id="34" name="Shape 23"/>
          <p:cNvSpPr/>
          <p:nvPr/>
        </p:nvSpPr>
        <p:spPr>
          <a:xfrm>
            <a:off x="3634740" y="5285232"/>
            <a:ext cx="457200" cy="457200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35" name="Image 9" descr="/home/claude/attendease/icons/lock_1C729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7610" y="5388102"/>
            <a:ext cx="251460" cy="25146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229100" y="52852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50" dirty="0"/>
          </a:p>
        </p:txBody>
      </p:sp>
      <p:sp>
        <p:nvSpPr>
          <p:cNvPr id="37" name="Shape 25"/>
          <p:cNvSpPr/>
          <p:nvPr/>
        </p:nvSpPr>
        <p:spPr>
          <a:xfrm>
            <a:off x="6400800" y="5285232"/>
            <a:ext cx="457200" cy="457200"/>
          </a:xfrm>
          <a:prstGeom prst="ellipse">
            <a:avLst/>
          </a:prstGeom>
          <a:solidFill>
            <a:srgbClr val="E3EEF7"/>
          </a:solidFill>
          <a:ln/>
        </p:spPr>
      </p:sp>
      <p:pic>
        <p:nvPicPr>
          <p:cNvPr id="38" name="Image 10" descr="/home/claude/attendease/icons/users_065A8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3670" y="5388102"/>
            <a:ext cx="251460" cy="25146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995160" y="52852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40" name="Shape 27"/>
          <p:cNvSpPr/>
          <p:nvPr/>
        </p:nvSpPr>
        <p:spPr>
          <a:xfrm>
            <a:off x="9166860" y="5285232"/>
            <a:ext cx="457200" cy="457200"/>
          </a:xfrm>
          <a:prstGeom prst="ellipse">
            <a:avLst/>
          </a:prstGeom>
          <a:solidFill>
            <a:srgbClr val="E4F3F1"/>
          </a:solidFill>
          <a:ln/>
        </p:spPr>
      </p:sp>
      <p:pic>
        <p:nvPicPr>
          <p:cNvPr id="41" name="Image 11" descr="/home/claude/attendease/icons/sync_1C729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9730" y="5388102"/>
            <a:ext cx="251460" cy="25146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9761220" y="52852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Attendance Prevention</a:t>
            </a:r>
            <a:endParaRPr lang="en-US" sz="1150" dirty="0"/>
          </a:p>
        </p:txBody>
      </p:sp>
      <p:sp>
        <p:nvSpPr>
          <p:cNvPr id="43" name="Text 29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ATTENDEASE</a:t>
            </a:r>
            <a:endParaRPr lang="en-US" sz="900" dirty="0"/>
          </a:p>
        </p:txBody>
      </p:sp>
      <p:sp>
        <p:nvSpPr>
          <p:cNvPr id="44" name="Text 30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 &amp; Key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one connected attendance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052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50520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50520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1981200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attendease/icons/users_2129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218" y="174421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286000"/>
            <a:ext cx="350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2871216"/>
            <a:ext cx="73152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8"/>
          <p:cNvSpPr/>
          <p:nvPr/>
        </p:nvSpPr>
        <p:spPr>
          <a:xfrm>
            <a:off x="987552" y="278892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209544"/>
            <a:ext cx="73152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0"/>
          <p:cNvSpPr/>
          <p:nvPr/>
        </p:nvSpPr>
        <p:spPr>
          <a:xfrm>
            <a:off x="987552" y="3127248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classes &amp; departments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3547872"/>
            <a:ext cx="73152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2"/>
          <p:cNvSpPr/>
          <p:nvPr/>
        </p:nvSpPr>
        <p:spPr>
          <a:xfrm>
            <a:off x="987552" y="3465576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attendance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73152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7" name="Text 14"/>
          <p:cNvSpPr/>
          <p:nvPr/>
        </p:nvSpPr>
        <p:spPr>
          <a:xfrm>
            <a:off x="987552" y="3803904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leave requests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28160" y="1417320"/>
            <a:ext cx="35052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28160" y="1417320"/>
            <a:ext cx="35052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0" name="Shape 17"/>
          <p:cNvSpPr/>
          <p:nvPr/>
        </p:nvSpPr>
        <p:spPr>
          <a:xfrm>
            <a:off x="4328160" y="1828800"/>
            <a:ext cx="35052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Shape 18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1" descr="/home/claude/attendease/icons/teacher_065A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738" y="174421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328160" y="2286000"/>
            <a:ext cx="350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602480" y="2871216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1"/>
          <p:cNvSpPr/>
          <p:nvPr/>
        </p:nvSpPr>
        <p:spPr>
          <a:xfrm>
            <a:off x="4767072" y="278892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attendance sessions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602480" y="3209544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3"/>
          <p:cNvSpPr/>
          <p:nvPr/>
        </p:nvSpPr>
        <p:spPr>
          <a:xfrm>
            <a:off x="4767072" y="3127248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Dynamic QR Codes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602480" y="3547872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5"/>
          <p:cNvSpPr/>
          <p:nvPr/>
        </p:nvSpPr>
        <p:spPr>
          <a:xfrm>
            <a:off x="4767072" y="3465576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student check-ins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4602480" y="3886200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7"/>
          <p:cNvSpPr/>
          <p:nvPr/>
        </p:nvSpPr>
        <p:spPr>
          <a:xfrm>
            <a:off x="4767072" y="3803904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4602480" y="4224528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29"/>
          <p:cNvSpPr/>
          <p:nvPr/>
        </p:nvSpPr>
        <p:spPr>
          <a:xfrm>
            <a:off x="4767072" y="4142232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8107680" y="1417320"/>
            <a:ext cx="35052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8107680" y="1417320"/>
            <a:ext cx="350520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36" name="Shape 32"/>
          <p:cNvSpPr/>
          <p:nvPr/>
        </p:nvSpPr>
        <p:spPr>
          <a:xfrm>
            <a:off x="8107680" y="1828800"/>
            <a:ext cx="3505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Shape 33"/>
          <p:cNvSpPr/>
          <p:nvPr/>
        </p:nvSpPr>
        <p:spPr>
          <a:xfrm>
            <a:off x="9540240" y="1600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2" descr="/home/claude/attendease/icons/student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258" y="1744218"/>
            <a:ext cx="352044" cy="35204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107680" y="2286000"/>
            <a:ext cx="350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40" name="Shape 35"/>
          <p:cNvSpPr/>
          <p:nvPr/>
        </p:nvSpPr>
        <p:spPr>
          <a:xfrm>
            <a:off x="8382000" y="2871216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Text 36"/>
          <p:cNvSpPr/>
          <p:nvPr/>
        </p:nvSpPr>
        <p:spPr>
          <a:xfrm>
            <a:off x="8546592" y="278892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Codes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8382000" y="3209544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Text 38"/>
          <p:cNvSpPr/>
          <p:nvPr/>
        </p:nvSpPr>
        <p:spPr>
          <a:xfrm>
            <a:off x="8546592" y="3127248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8382000" y="3547872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5" name="Text 40"/>
          <p:cNvSpPr/>
          <p:nvPr/>
        </p:nvSpPr>
        <p:spPr>
          <a:xfrm>
            <a:off x="8546592" y="3465576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attendance history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8382000" y="3886200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7" name="Text 42"/>
          <p:cNvSpPr/>
          <p:nvPr/>
        </p:nvSpPr>
        <p:spPr>
          <a:xfrm>
            <a:off x="8546592" y="3803904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attendance %</a:t>
            </a:r>
            <a:endParaRPr lang="en-US" sz="1150" dirty="0"/>
          </a:p>
        </p:txBody>
      </p:sp>
      <p:sp>
        <p:nvSpPr>
          <p:cNvPr id="48" name="Shape 43"/>
          <p:cNvSpPr/>
          <p:nvPr/>
        </p:nvSpPr>
        <p:spPr>
          <a:xfrm>
            <a:off x="8382000" y="4224528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9" name="Text 44"/>
          <p:cNvSpPr/>
          <p:nvPr/>
        </p:nvSpPr>
        <p:spPr>
          <a:xfrm>
            <a:off x="8546592" y="4142232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</a:t>
            </a:r>
            <a:endParaRPr lang="en-US" sz="1150" dirty="0"/>
          </a:p>
        </p:txBody>
      </p:sp>
      <p:sp>
        <p:nvSpPr>
          <p:cNvPr id="50" name="Shape 45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51" name="Text 46"/>
          <p:cNvSpPr/>
          <p:nvPr/>
        </p:nvSpPr>
        <p:spPr>
          <a:xfrm>
            <a:off x="77724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52" name="Shape 47"/>
          <p:cNvSpPr/>
          <p:nvPr/>
        </p:nvSpPr>
        <p:spPr>
          <a:xfrm>
            <a:off x="868680" y="5285232"/>
            <a:ext cx="457200" cy="457200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53" name="Image 3" descr="/home/claude/attendease/icons/bolt_3FBFB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5388102"/>
            <a:ext cx="251460" cy="25146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1463040" y="52852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Attendance</a:t>
            </a:r>
            <a:endParaRPr lang="en-US" sz="1150" dirty="0"/>
          </a:p>
        </p:txBody>
      </p:sp>
      <p:sp>
        <p:nvSpPr>
          <p:cNvPr id="55" name="Shape 49"/>
          <p:cNvSpPr/>
          <p:nvPr/>
        </p:nvSpPr>
        <p:spPr>
          <a:xfrm>
            <a:off x="3634740" y="5285232"/>
            <a:ext cx="457200" cy="457200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56" name="Image 4" descr="/home/claude/attendease/icons/chart_3FBFB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610" y="5388102"/>
            <a:ext cx="251460" cy="251460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4229100" y="52852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Analytics</a:t>
            </a:r>
            <a:endParaRPr lang="en-US" sz="1150" dirty="0"/>
          </a:p>
        </p:txBody>
      </p:sp>
      <p:sp>
        <p:nvSpPr>
          <p:cNvPr id="58" name="Shape 51"/>
          <p:cNvSpPr/>
          <p:nvPr/>
        </p:nvSpPr>
        <p:spPr>
          <a:xfrm>
            <a:off x="6400800" y="5285232"/>
            <a:ext cx="457200" cy="457200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59" name="Image 5" descr="/home/claude/attendease/icons/calendarcheck_3FBFB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670" y="5388102"/>
            <a:ext cx="251460" cy="251460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6995160" y="52852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Leave Management</a:t>
            </a:r>
            <a:endParaRPr lang="en-US" sz="1150" dirty="0"/>
          </a:p>
        </p:txBody>
      </p:sp>
      <p:sp>
        <p:nvSpPr>
          <p:cNvPr id="61" name="Shape 53"/>
          <p:cNvSpPr/>
          <p:nvPr/>
        </p:nvSpPr>
        <p:spPr>
          <a:xfrm>
            <a:off x="9166860" y="5285232"/>
            <a:ext cx="457200" cy="457200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62" name="Image 6" descr="/home/claude/attendease/icons/excel_3FBFB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9730" y="5388102"/>
            <a:ext cx="251460" cy="251460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9761220" y="5285232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Excel Reports</a:t>
            </a:r>
            <a:endParaRPr lang="en-US" sz="1150" dirty="0"/>
          </a:p>
        </p:txBody>
      </p:sp>
      <p:sp>
        <p:nvSpPr>
          <p:cNvPr id="64" name="Text 55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ATTENDEASE</a:t>
            </a:r>
            <a:endParaRPr lang="en-US" sz="900" dirty="0"/>
          </a:p>
        </p:txBody>
      </p:sp>
      <p:sp>
        <p:nvSpPr>
          <p:cNvPr id="65" name="Text 5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Results &amp;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scenarios and the measurable impact of Attendease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350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Results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2523744"/>
            <a:ext cx="539496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786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QR Code</a:t>
            </a:r>
            <a:endParaRPr lang="en-US" sz="1300" dirty="0"/>
          </a:p>
        </p:txBody>
      </p:sp>
      <p:pic>
        <p:nvPicPr>
          <p:cNvPr id="10" name="Image 0" descr="/home/claude/attendease/icons/check_1C72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267004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46320" y="25786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3072384"/>
            <a:ext cx="5394960" cy="0"/>
          </a:xfrm>
          <a:prstGeom prst="line">
            <a:avLst/>
          </a:prstGeom>
          <a:noFill/>
          <a:ln w="12700">
            <a:solidFill>
              <a:srgbClr val="F0F2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200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within 50 m</a:t>
            </a:r>
            <a:endParaRPr lang="en-US" sz="1300" dirty="0"/>
          </a:p>
        </p:txBody>
      </p:sp>
      <p:pic>
        <p:nvPicPr>
          <p:cNvPr id="14" name="Image 1" descr="/home/claude/attendease/icons/check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29184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6320" y="3200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68680" y="3694176"/>
            <a:ext cx="5394960" cy="0"/>
          </a:xfrm>
          <a:prstGeom prst="line">
            <a:avLst/>
          </a:prstGeom>
          <a:noFill/>
          <a:ln w="12700">
            <a:solidFill>
              <a:srgbClr val="F0F2F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8680" y="38221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outside 50 m</a:t>
            </a:r>
            <a:endParaRPr lang="en-US" sz="1300" dirty="0"/>
          </a:p>
        </p:txBody>
      </p:sp>
      <p:pic>
        <p:nvPicPr>
          <p:cNvPr id="18" name="Image 2" descr="/home/claude/attendease/icons/cross_C039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91363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38221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68680" y="4315968"/>
            <a:ext cx="5394960" cy="0"/>
          </a:xfrm>
          <a:prstGeom prst="line">
            <a:avLst/>
          </a:prstGeom>
          <a:noFill/>
          <a:ln w="12700">
            <a:solidFill>
              <a:srgbClr val="F0F2F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68680" y="44439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QR</a:t>
            </a:r>
            <a:endParaRPr lang="en-US" sz="1300" dirty="0"/>
          </a:p>
        </p:txBody>
      </p:sp>
      <p:pic>
        <p:nvPicPr>
          <p:cNvPr id="22" name="Image 3" descr="/home/claude/attendease/icons/cross_C0392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453542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46320" y="44439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68680" y="4937760"/>
            <a:ext cx="5394960" cy="0"/>
          </a:xfrm>
          <a:prstGeom prst="line">
            <a:avLst/>
          </a:prstGeom>
          <a:noFill/>
          <a:ln w="12700">
            <a:solidFill>
              <a:srgbClr val="F0F2F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68680" y="50657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Attendance</a:t>
            </a:r>
            <a:endParaRPr lang="en-US" sz="1300" dirty="0"/>
          </a:p>
        </p:txBody>
      </p:sp>
      <p:pic>
        <p:nvPicPr>
          <p:cNvPr id="26" name="Image 4" descr="/home/claude/attendease/icons/cross_C0392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515721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46320" y="506577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68680" y="5559552"/>
            <a:ext cx="5394960" cy="0"/>
          </a:xfrm>
          <a:prstGeom prst="line">
            <a:avLst/>
          </a:prstGeom>
          <a:noFill/>
          <a:ln w="12700">
            <a:solidFill>
              <a:srgbClr val="F0F2F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58000" y="1417320"/>
            <a:ext cx="47548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C2331">
                <a:alpha val="15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717804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Outcomes</a:t>
            </a:r>
            <a:endParaRPr lang="en-US" sz="1600" dirty="0"/>
          </a:p>
        </p:txBody>
      </p:sp>
      <p:pic>
        <p:nvPicPr>
          <p:cNvPr id="31" name="Image 5" descr="/home/claude/attendease/icons/check_3FBFB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2221992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98080" y="2194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attendance process</a:t>
            </a:r>
            <a:endParaRPr lang="en-US" sz="1250" dirty="0"/>
          </a:p>
        </p:txBody>
      </p:sp>
      <p:pic>
        <p:nvPicPr>
          <p:cNvPr id="33" name="Image 6" descr="/home/claude/attendease/icons/check_3FBFB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2752344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98080" y="272491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</a:t>
            </a:r>
            <a:endParaRPr lang="en-US" sz="1250" dirty="0"/>
          </a:p>
        </p:txBody>
      </p:sp>
      <p:pic>
        <p:nvPicPr>
          <p:cNvPr id="35" name="Image 7" descr="/home/claude/attendease/icons/check_3FBFB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3282696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498080" y="325526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attendance security</a:t>
            </a:r>
            <a:endParaRPr lang="en-US" sz="1250" dirty="0"/>
          </a:p>
        </p:txBody>
      </p:sp>
      <p:pic>
        <p:nvPicPr>
          <p:cNvPr id="37" name="Image 8" descr="/home/claude/attendease/icons/check_3FBFB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3813048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498080" y="378561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proxy attendance possibilities</a:t>
            </a:r>
            <a:endParaRPr lang="en-US" sz="1250" dirty="0"/>
          </a:p>
        </p:txBody>
      </p:sp>
      <p:pic>
        <p:nvPicPr>
          <p:cNvPr id="39" name="Image 9" descr="/home/claude/attendease/icons/check_3FBFB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8040" y="4343400"/>
            <a:ext cx="201168" cy="20116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498080" y="43159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attendance monitoring</a:t>
            </a:r>
            <a:endParaRPr lang="en-US" sz="1250" dirty="0"/>
          </a:p>
        </p:txBody>
      </p:sp>
      <p:pic>
        <p:nvPicPr>
          <p:cNvPr id="41" name="Image 10" descr="/home/claude/attendease/icons/check_3FBFB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8040" y="4873752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7498080" y="4846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data management</a:t>
            </a:r>
            <a:endParaRPr lang="en-US" sz="1250" dirty="0"/>
          </a:p>
        </p:txBody>
      </p:sp>
      <p:pic>
        <p:nvPicPr>
          <p:cNvPr id="43" name="Image 11" descr="/home/claude/attendease/icons/check_3FBFB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78040" y="5404104"/>
            <a:ext cx="201168" cy="201168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7498080" y="53766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250" dirty="0"/>
          </a:p>
        </p:txBody>
      </p:sp>
      <p:sp>
        <p:nvSpPr>
          <p:cNvPr id="45" name="Text 31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ATTENDEASE</a:t>
            </a:r>
            <a:endParaRPr lang="en-US" sz="900" dirty="0"/>
          </a:p>
        </p:txBody>
      </p:sp>
      <p:sp>
        <p:nvSpPr>
          <p:cNvPr id="46" name="Text 3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Learning Outcomes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Attendease provides a smart and efficient solution for digital attendance management — combining the following pillars to make attendance faster, more reliable, and more secure: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3060" y="1828800"/>
            <a:ext cx="457200" cy="457200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9" name="Image 0" descr="/home/claude/attendease/icons/qrcode_3FBFB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930" y="193167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QR Codes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57700" y="1828800"/>
            <a:ext cx="457200" cy="457200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13" name="Image 1" descr="/home/claude/attendease/icons/location_dot_3FBFB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570" y="193167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Geofencing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92340" y="1828800"/>
            <a:ext cx="457200" cy="457200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17" name="Image 2" descr="/home/claude/attendease/icons/lock_3FBFB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210" y="193167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26980" y="1828800"/>
            <a:ext cx="457200" cy="457200"/>
          </a:xfrm>
          <a:prstGeom prst="ellipse">
            <a:avLst/>
          </a:prstGeom>
          <a:solidFill>
            <a:srgbClr val="2C3A73"/>
          </a:solidFill>
          <a:ln/>
        </p:spPr>
      </p:sp>
      <p:pic>
        <p:nvPicPr>
          <p:cNvPr id="21" name="Image 3" descr="/home/claude/attendease/icons/bolt_3FBFB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9850" y="19316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2377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LEARNING OUTCOMES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34930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gained during the internship at DigiSamaksh Pvt. Ltd.: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3840480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58368" y="384048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2798064" y="3840480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907792" y="384048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047488" y="3840480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157216" y="384048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296912" y="3840480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06640" y="384048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Development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9546336" y="3840480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656064" y="384048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&amp; Prisma ORM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48640" y="4517136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58368" y="451713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798064" y="4517136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2907792" y="451713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Integration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5047488" y="4517136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157216" y="451713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Geofencing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7296912" y="4517136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406640" y="451713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9546336" y="4517136"/>
            <a:ext cx="2066544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9656064" y="451713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548640" y="5623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46" name="Text 40"/>
          <p:cNvSpPr/>
          <p:nvPr/>
        </p:nvSpPr>
        <p:spPr>
          <a:xfrm>
            <a:off x="54864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ATTENDEASE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2026-08-28T20:34:36Z</dcterms:created>
  <dcterms:modified xsi:type="dcterms:W3CDTF">2026-08-28T20:34:36Z</dcterms:modified>
</cp:coreProperties>
</file>